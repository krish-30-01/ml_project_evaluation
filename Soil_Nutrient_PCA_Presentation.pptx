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711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2743200"/>
            <a:ext cx="3108960" cy="310896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6" name="Image 0" descr="icons/plant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" y="7692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600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•  B.TECH  •  A.Y. 2026-27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65960"/>
            <a:ext cx="9692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Multidimensional Soil Nutrient Data Visualization and Feature Dimensionality Reduction Using Principal Component Analysis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94360" y="39776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high-dimensional soil health parameters into interpretable 2D / 3D principal components for precision agriculture.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4709160"/>
            <a:ext cx="493776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49377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2C5F2D">
              <a:alpha val="85000"/>
            </a:srgbClr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047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5321808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Sureja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2520030134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Jijjuvarapu Sai Satyan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2520030088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97880" y="493776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2C5F2D">
              <a:alpha val="85000"/>
            </a:srgbClr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5047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532180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Asif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KLH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 |  Dept. of Computer Science &amp; Engineering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DIMENSIONALITY REDUCTION FOR SOIL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icons/ea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9" y="172775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4533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Complex, correlated 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892808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testing yields macro-nutrients (N, P, K) and micro-nutrients (Fe, Zn, Mn, Cu) that are strongly correlated across soil type, irrigation, and climate.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2679192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9" name="Image 1" descr="icons/search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19" y="2806751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243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visualize directly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29718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many interdependent variables at once is impractical, hiding patterns agronomists need to see.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" y="3758184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2" descr="icons/layer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9" y="3885743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7033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structure discovery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050792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algorithms give a structured way to simplify complex agricultural datasets.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94360" y="4837176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7" name="Image 3" descr="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919" y="4964735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7823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as the core technique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5129784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performs a linear, orthogonal transformation onto axes of maximum variance.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94360" y="5961888"/>
            <a:ext cx="1097280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96188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PCA to discover normal soil-nutrient patterns and reveal spatial soil-quality variation automatically.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 IN BRIEF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67208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3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depends on complex, high-dimensional soil health parameters — Nitrogen, Phosphorus, Potassium, pH, organic carbon, electrical conductivity, and micronutrients.</a:t>
            </a:r>
            <a:endParaRPr lang="en-US" sz="13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3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Principal Component Analysis to compress these correlated soil properties into lower-dimensional 2D and 3D principal components while retaining maximum dataset variance.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parameters are Z-score standardized, and eigenvectors / eigenvalues of the covariance matrix transform raw measurements into orthogonal, uncorrelated components — visualized via biplots, scree plots, and cumulative variance charts.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543800" y="1554480"/>
            <a:ext cx="4069080" cy="2212848"/>
          </a:xfrm>
          <a:prstGeom prst="roundRect">
            <a:avLst>
              <a:gd name="adj" fmla="val 4959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73736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80–85%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863840" y="260604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variance retained using just 2–3 principal components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43800" y="3913632"/>
            <a:ext cx="4069080" cy="2304288"/>
          </a:xfrm>
          <a:prstGeom prst="roundRect">
            <a:avLst>
              <a:gd name="adj" fmla="val 4762"/>
            </a:avLst>
          </a:prstGeom>
          <a:solidFill>
            <a:srgbClr val="F4F1E8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4096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18120" y="4407408"/>
            <a:ext cx="3520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cluster soil profiles by nutrient similarity, identify spatial soil degradation, and isolate key driving variables through eigenvector feature-loading analysis.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APPROACHES TO ANALYZING SOIL NUTRIENT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11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Statistical Review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Agronomists inspect summary statistics and pairwise correlation tables for each nutrient.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389120"/>
            <a:ext cx="2971800" cy="0"/>
          </a:xfrm>
          <a:prstGeom prst="line">
            <a:avLst/>
          </a:prstGeom>
          <a:noFill/>
          <a:ln w="15875">
            <a:solidFill>
              <a:srgbClr val="F4F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480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beyond a handful of variables; interactions are easy to miss.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07408" y="16916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81728" y="1965960"/>
            <a:ext cx="594360" cy="59436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3" name="Image 1" descr="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459" y="209969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81728" y="26974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2D Scatter / Heatmaps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81728" y="32918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of nutrients (e.g., N vs P) are plotted individually to look for patterns.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81728" y="4389120"/>
            <a:ext cx="2971800" cy="0"/>
          </a:xfrm>
          <a:prstGeom prst="line">
            <a:avLst/>
          </a:prstGeom>
          <a:noFill/>
          <a:ln w="15875">
            <a:solidFill>
              <a:srgbClr val="F4F1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81728" y="4480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show 2 variables at once — multicollinearity across many nutrients stays hidden.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20456" y="16916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94776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507" y="2099691"/>
            <a:ext cx="326898" cy="32689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94776" y="26974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Multivariate Storage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494776" y="32918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soil parameters are stored and queried directly without any transformation.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494776" y="4389120"/>
            <a:ext cx="2971800" cy="0"/>
          </a:xfrm>
          <a:prstGeom prst="line">
            <a:avLst/>
          </a:prstGeom>
          <a:noFill/>
          <a:ln w="15875">
            <a:solidFill>
              <a:srgbClr val="F4F1E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494776" y="4480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High-dimensional, unscaled data is visually opaque for clustering or trend detection.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94360" y="5641848"/>
            <a:ext cx="11146536" cy="530352"/>
          </a:xfrm>
          <a:prstGeom prst="roundRect">
            <a:avLst>
              <a:gd name="adj" fmla="val 13793"/>
            </a:avLst>
          </a:prstGeom>
          <a:solidFill>
            <a:srgbClr val="2C5F2D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" y="5641848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data-driven technique that reveals structure across many correlated soil variables at once — without losing signal.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— PCA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11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finds new orthogonal axes (principal components) that capture the directions of maximum variance in standardized soil data. Each component is a linear combination of the original nutrient features.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7408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81728" y="1965960"/>
            <a:ext cx="594360" cy="59436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1" name="Image 1" descr="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459" y="209969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697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Parameters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81728" y="320040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 → number of PCs retained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explained_variance_ratio → variance captured per PC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 / eigenvalues → direction &amp; magnitude of each component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0456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94776" y="196596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6" name="Image 2" descr="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507" y="209969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4776" y="2697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Our Project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94776" y="320040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principal components are kept for biplots. They preserve 80–85% of total variance, letting soil profiles be visually clustered by similarity.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PCA-BASED SOIL NUTRIENT DIMENSIONALITY REDUCTION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3677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standardize soil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apply Z-score standardization so ppm, %, and pH values are comparable.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0" cy="347472"/>
          </a:xfrm>
          <a:prstGeom prst="line">
            <a:avLst/>
          </a:prstGeom>
          <a:noFill/>
          <a:ln w="19050">
            <a:solidFill>
              <a:srgbClr val="F4F1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94360" y="25877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587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5328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the covariance matrix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8620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inter-variable dependencies among macro- and micro-nutrients.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136392"/>
            <a:ext cx="0" cy="347472"/>
          </a:xfrm>
          <a:prstGeom prst="line">
            <a:avLst/>
          </a:prstGeom>
          <a:noFill/>
          <a:ln w="19050">
            <a:solidFill>
              <a:srgbClr val="F4F1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94360" y="348386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83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429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 Decomposition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75818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principal components PC1, PC2, …, PCn ranked by explained variance.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032504"/>
            <a:ext cx="0" cy="347472"/>
          </a:xfrm>
          <a:prstGeom prst="line">
            <a:avLst/>
          </a:prstGeom>
          <a:noFill/>
          <a:ln w="19050">
            <a:solidFill>
              <a:srgbClr val="F4F1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94360" y="437997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3799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325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into 2D / 3D space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6542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biplots with loading vectors to reveal clusters, outliers, and variable correlations.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4928616"/>
            <a:ext cx="0" cy="347472"/>
          </a:xfrm>
          <a:prstGeom prst="line">
            <a:avLst/>
          </a:prstGeom>
          <a:noFill/>
          <a:ln w="19050">
            <a:solidFill>
              <a:srgbClr val="F4F1E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527608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276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52212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&amp; interpret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5504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scree plots and cumulative variance charts to select components and guide fertilization strategy.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PROCESSING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2940" y="2468880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4148" y="2633472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822" y="276514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92" y="331012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Soil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 rot="5400000">
            <a:off x="2318004" y="3095244"/>
            <a:ext cx="164592" cy="164592"/>
          </a:xfrm>
          <a:prstGeom prst="triangle">
            <a:avLst/>
          </a:prstGeom>
          <a:solidFill>
            <a:srgbClr val="C9922B"/>
          </a:solidFill>
          <a:ln/>
        </p:spPr>
      </p:sp>
      <p:sp>
        <p:nvSpPr>
          <p:cNvPr id="9" name="Shape 6"/>
          <p:cNvSpPr/>
          <p:nvPr/>
        </p:nvSpPr>
        <p:spPr>
          <a:xfrm>
            <a:off x="2510028" y="2468880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31236" y="2633472"/>
            <a:ext cx="585216" cy="585216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1" name="Image 1" descr="icons/b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910" y="2765146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83180" y="331012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 rot="5400000">
            <a:off x="4165092" y="3095244"/>
            <a:ext cx="164592" cy="164592"/>
          </a:xfrm>
          <a:prstGeom prst="triangle">
            <a:avLst/>
          </a:prstGeom>
          <a:solidFill>
            <a:srgbClr val="C9922B"/>
          </a:solidFill>
          <a:ln/>
        </p:spPr>
      </p:sp>
      <p:sp>
        <p:nvSpPr>
          <p:cNvPr id="14" name="Shape 10"/>
          <p:cNvSpPr/>
          <p:nvPr/>
        </p:nvSpPr>
        <p:spPr>
          <a:xfrm>
            <a:off x="4357116" y="2468880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78324" y="2633472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icons/layer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998" y="2765146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30268" y="331012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 rot="5400000">
            <a:off x="6012180" y="3095244"/>
            <a:ext cx="164592" cy="164592"/>
          </a:xfrm>
          <a:prstGeom prst="triangle">
            <a:avLst/>
          </a:prstGeom>
          <a:solidFill>
            <a:srgbClr val="C9922B"/>
          </a:solidFill>
          <a:ln/>
        </p:spPr>
      </p:sp>
      <p:sp>
        <p:nvSpPr>
          <p:cNvPr id="19" name="Shape 14"/>
          <p:cNvSpPr/>
          <p:nvPr/>
        </p:nvSpPr>
        <p:spPr>
          <a:xfrm>
            <a:off x="6204204" y="2468880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9922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25412" y="2633472"/>
            <a:ext cx="585216" cy="585216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21" name="Image 3" descr="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086" y="2765146"/>
            <a:ext cx="321869" cy="3218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7356" y="331012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Eigendecomposition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(PCA)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 rot="5400000">
            <a:off x="7859268" y="3095244"/>
            <a:ext cx="164592" cy="164592"/>
          </a:xfrm>
          <a:prstGeom prst="triangle">
            <a:avLst/>
          </a:prstGeom>
          <a:solidFill>
            <a:srgbClr val="C9922B"/>
          </a:solidFill>
          <a:ln/>
        </p:spPr>
      </p:sp>
      <p:sp>
        <p:nvSpPr>
          <p:cNvPr id="24" name="Shape 18"/>
          <p:cNvSpPr/>
          <p:nvPr/>
        </p:nvSpPr>
        <p:spPr>
          <a:xfrm>
            <a:off x="8051292" y="2468880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572500" y="2633472"/>
            <a:ext cx="585216" cy="585216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6" name="Image 4" descr="icons/c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4174" y="2765146"/>
            <a:ext cx="321869" cy="3218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24444" y="331012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/ 3D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 rot="5400000">
            <a:off x="9706356" y="3095244"/>
            <a:ext cx="164592" cy="164592"/>
          </a:xfrm>
          <a:prstGeom prst="triangle">
            <a:avLst/>
          </a:prstGeom>
          <a:solidFill>
            <a:srgbClr val="C9922B"/>
          </a:solidFill>
          <a:ln/>
        </p:spPr>
      </p:sp>
      <p:sp>
        <p:nvSpPr>
          <p:cNvPr id="29" name="Shape 22"/>
          <p:cNvSpPr/>
          <p:nvPr/>
        </p:nvSpPr>
        <p:spPr>
          <a:xfrm>
            <a:off x="9898380" y="2468880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419588" y="2633472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1" name="Image 5" descr="icons/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1262" y="2765146"/>
            <a:ext cx="321869" cy="3218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71532" y="331012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94360" y="4480560"/>
            <a:ext cx="10863072" cy="685800"/>
          </a:xfrm>
          <a:prstGeom prst="roundRect">
            <a:avLst>
              <a:gd name="adj" fmla="val 10667"/>
            </a:avLst>
          </a:prstGeom>
          <a:solidFill>
            <a:srgbClr val="2C5F2D"/>
          </a:solidFill>
          <a:ln/>
        </p:spPr>
      </p:sp>
      <p:sp>
        <p:nvSpPr>
          <p:cNvPr id="34" name="Text 26"/>
          <p:cNvSpPr/>
          <p:nvPr/>
        </p:nvSpPr>
        <p:spPr>
          <a:xfrm>
            <a:off x="845820" y="4480560"/>
            <a:ext cx="10497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Well-separated clusters </a:t>
            </a: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distinct soil-quality zones     |  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Outlying points </a:t>
            </a: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spatial soil degradation to investigate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AND BUILD STEPS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cons/cloud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11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Prepare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soil CSV with Pandas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N, P, K, pH, EC, micronutrients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using StandardScaler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07408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2C5F2D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81728" y="1965960"/>
            <a:ext cx="594360" cy="59436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1" name="Image 1" descr="icons/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459" y="209969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Run PCA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81728" y="315468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sklearn.decomposition.PCA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eigenvectors &amp; eigenvalues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components by explained variance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2–3 components (80–85%)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0456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94776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icons/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507" y="209969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4776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Visualize Output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94776" y="315468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scree &amp; cumulative variance charts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2D biplots (Matplotlib/Seaborn)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3D biplots (Plotly/PyVista)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loadings &amp; soil clusters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— TOOLS AT EACH STAGE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288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87" y="195635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64792"/>
            <a:ext cx="2834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26280" y="1764792"/>
            <a:ext cx="6675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nutrient CSV (N, P, K, pH, organic carbon, EC, micronutrients) loaded via Pandas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rot="10800000">
            <a:off x="996696" y="2551176"/>
            <a:ext cx="164592" cy="164592"/>
          </a:xfrm>
          <a:prstGeom prst="triangle">
            <a:avLst/>
          </a:prstGeom>
          <a:solidFill>
            <a:srgbClr val="C9922B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27340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2871216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2" name="Image 1" descr="icons/b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87" y="2998775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07208"/>
            <a:ext cx="2834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Layer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26280" y="2807208"/>
            <a:ext cx="6675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handling + Z-score standardization via Scikit-Learn StandardScaler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 rot="10800000">
            <a:off x="996696" y="3593592"/>
            <a:ext cx="164592" cy="164592"/>
          </a:xfrm>
          <a:prstGeom prst="triangle">
            <a:avLst/>
          </a:prstGeom>
          <a:solidFill>
            <a:srgbClr val="C9922B"/>
          </a:solidFill>
          <a:ln/>
        </p:spPr>
      </p:sp>
      <p:sp>
        <p:nvSpPr>
          <p:cNvPr id="16" name="Shape 12"/>
          <p:cNvSpPr/>
          <p:nvPr/>
        </p:nvSpPr>
        <p:spPr>
          <a:xfrm>
            <a:off x="594360" y="37764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95528" y="3913632"/>
            <a:ext cx="566928" cy="566928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8" name="Image 2" descr="icons/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87" y="4041191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49624"/>
            <a:ext cx="2834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Layer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526280" y="3849624"/>
            <a:ext cx="6675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sklearn.decomposition.PCA computes covariance matrix, eigenvectors &amp; eigenvalues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 rot="10800000">
            <a:off x="996696" y="4636008"/>
            <a:ext cx="164592" cy="164592"/>
          </a:xfrm>
          <a:prstGeom prst="triangle">
            <a:avLst/>
          </a:prstGeom>
          <a:solidFill>
            <a:srgbClr val="C9922B"/>
          </a:solidFill>
          <a:ln/>
        </p:spPr>
      </p:sp>
      <p:sp>
        <p:nvSpPr>
          <p:cNvPr id="22" name="Shape 17"/>
          <p:cNvSpPr/>
          <p:nvPr/>
        </p:nvSpPr>
        <p:spPr>
          <a:xfrm>
            <a:off x="594360" y="48188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F4F1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5528" y="4956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7" y="5083607"/>
            <a:ext cx="311810" cy="31181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892040"/>
            <a:ext cx="2834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Layer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526280" y="4892040"/>
            <a:ext cx="6675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 scree &amp; heatmaps + Plotly / PyVista interactive 3D biplots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023360" cy="402336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554480"/>
            <a:ext cx="1005840" cy="100584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5" name="Image 0" descr="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178079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889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14316" y="4343400"/>
            <a:ext cx="256032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Sureja (2520030134)   •   Jijjuvarapu Sai Satyan (2520030088)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Shaik Asif   |   Dept. of Computer Science &amp; Engineering, KLH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911</Words>
  <Application>Microsoft Office PowerPoint</Application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krishsureja2007@outlook.com</cp:lastModifiedBy>
  <cp:revision>2</cp:revision>
  <dcterms:created xsi:type="dcterms:W3CDTF">2026-08-27T15:56:56Z</dcterms:created>
  <dcterms:modified xsi:type="dcterms:W3CDTF">2026-08-28T12:57:02Z</dcterms:modified>
</cp:coreProperties>
</file>